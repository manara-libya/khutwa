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t>[0] [انتظر ثانيتين في صمت، ثم انقر]</a:t>
            </a:r>
          </a:p>
          <a:p>
            <a:pPr rtl="1" algn="r"/>
            <a:r>
              <a:t>[1] كلنا كتبنا رسالة كهذه يومًا… لصديق، أو لشخص نثق به.</a:t>
            </a:r>
          </a:p>
          <a:p>
            <a:pPr rtl="1" algn="r"/>
            <a:r>
              <a:t>ثم مسحناها قبل أن نرسلها. [انقر]</a:t>
            </a:r>
          </a:p>
          <a:p>
            <a:pPr rtl="1" algn="r"/>
            <a:r>
              <a:t>[2] كم مرة كتبتم رسالة كهذه… ثم مسحتموها؟ [توقف لحظة، ثم انقر]</a:t>
            </a:r>
          </a:p>
          <a:p>
            <a:pPr rtl="1" algn="r"/>
            <a:r>
              <a:t>[3] هذه الرسالة… هي أصعب خطوة. [انقر]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t>[0] السلام عليكم. نحن فريق «خطوة».</a:t>
            </a:r>
          </a:p>
          <a:p>
            <a:pPr rtl="1" algn="r"/>
            <a:r>
              <a:t>وجئنا اليوم من أجل هذه الخطوة بالذات: الخطوة الأولى. [انقر]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t>[0] الساعة الثانية فجرًا. شاب يمسك هاتفه منذ ساعة. [انقر]</a:t>
            </a:r>
          </a:p>
          <a:p>
            <a:pPr rtl="1" algn="r"/>
            <a:r>
              <a:t>[1] يكتب بلهجته: «مش عارف مع مني نحكي»… أي: لا أعرف مع من أتكلم. [انقر]</a:t>
            </a:r>
          </a:p>
          <a:p>
            <a:pPr rtl="1" algn="r"/>
            <a:r>
              <a:t>[2] اسمه عمر، وهو في التاسعة عشرة. شخصية افتراضية… لكن سؤاله حقيقي. [انقر]</a:t>
            </a:r>
          </a:p>
          <a:p>
            <a:pPr rtl="1" algn="r"/>
            <a:r>
              <a:t>[3] عمر لا يحتاج إلى تشخيص. يحتاج إلى شخص واحد يثق به. [انقر]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t>[0] في مسح شمل أكثر من أربعمئة طالب في مدارس طرابلس الثانوية… [انقر]</a:t>
            </a:r>
          </a:p>
          <a:p>
            <a:pPr rtl="1" algn="r"/>
            <a:r>
              <a:t>[1] قال سبعة وأربعون منهم إنهم حاولوا الانتحار خلال العام الماضي. [انقر]</a:t>
            </a:r>
          </a:p>
          <a:p>
            <a:pPr rtl="1" algn="r"/>
            <a:r>
              <a:t>[2] ولم يحصل على مساعدة من مختص إلا ثلاثة عشر طالبًا.</a:t>
            </a:r>
          </a:p>
          <a:p>
            <a:pPr rtl="1" algn="r"/>
            <a:r>
              <a:t>الألم موجود… لكن الطريق إلى المساعدة مقطوع. [انقر]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t>[0] فسألنا أنفسنا: أين ينقطع الطريق بالضبط؟ [انقر]</a:t>
            </a:r>
          </a:p>
          <a:p>
            <a:pPr rtl="1" algn="r"/>
            <a:r>
              <a:t>[1] للطريق ثلاث محطات: الضيق، ثم إخبار شخص واحد، ثم المساعدة. [انقر]</a:t>
            </a:r>
          </a:p>
          <a:p>
            <a:pPr rtl="1" algn="r"/>
            <a:r>
              <a:t>[2] والأبحاث تقول إنه ينقطع هنا: في الخطوة الأولى، قبل الطبيب بكثير. [انقر]</a:t>
            </a:r>
          </a:p>
          <a:p>
            <a:pPr rtl="1" algn="r"/>
            <a:r>
              <a:t>[3] مسوح منظمة الصحة العالمية في أربع وعشرين دولة وجدت أن الخجل، والرغبة في أن نتدبر أمرنا وحدنا، يمنعاننا من البدء أكثر من نقص الخدمات.</a:t>
            </a:r>
          </a:p>
          <a:p>
            <a:pPr rtl="1" algn="r"/>
            <a:r>
              <a:t>وكثيرون ينتظرون سنوات قبل أن يتواصلوا مع أحد. [انقر]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t>[0] وفي ليبيا تحديدًا، استمعنا إلى الطلاب أنفسهم. [انقر]</a:t>
            </a:r>
          </a:p>
          <a:p>
            <a:pPr rtl="1" algn="r"/>
            <a:r>
              <a:t>[1] تحدث طلاب جامعة في بنغازي عن الوصمة، وعن خوفهم على أسرارهم. [انقر]</a:t>
            </a:r>
          </a:p>
          <a:p>
            <a:pPr rtl="1" algn="r"/>
            <a:r>
              <a:t>[2] وقالوا إنهم يلجؤون أولًا إلى من يثقون بهم من الأهل والأصدقاء. [انقر]</a:t>
            </a:r>
          </a:p>
          <a:p>
            <a:pPr rtl="1" algn="r"/>
            <a:r>
              <a:t>[3] ولم يعرف أحد منهم أي دعم نفسي داخل الجامعة. [انقر]</a:t>
            </a:r>
          </a:p>
          <a:p>
            <a:pPr rtl="1" algn="r"/>
            <a:r>
              <a:t>[4] إذن، المشكلة ليست في قلة المعلومات… المشكلة في الخطوة الأولى نحو إنسان. [انقر]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t>[0] تطبيقات المحادثة الذكية مصممة لتبقيك معها أطول وقت ممكن. [انقر]</a:t>
            </a:r>
          </a:p>
          <a:p>
            <a:pPr rtl="1" algn="r"/>
            <a:r>
              <a:t>[1] نحن صممنا العكس. [انقر]</a:t>
            </a:r>
          </a:p>
          <a:p>
            <a:pPr rtl="1" algn="r"/>
            <a:r>
              <a:t>[2] «خطوة» مساعد بالذكاء الاصطناعي، يُقاس نجاحه بسرعة وصولك إلى شخص تثق به. [انقر]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t>[0] ثلاثة أشياء تميز «خطوة». [انقر]</a:t>
            </a:r>
          </a:p>
          <a:p>
            <a:pPr rtl="1" algn="r"/>
            <a:r>
              <a:t>[1] أولًا: يفهم اللهجة الليبية، كما يكتبها الشباب فعلًا. [انقر]</a:t>
            </a:r>
          </a:p>
          <a:p>
            <a:pPr rtl="1" algn="r"/>
            <a:r>
              <a:t>[2] ثانيًا: لا يعرف من أنت. تُحذف الأسماء والأماكن والأرقام على الهاتف نفسه، قبل أن يراها الذكاء الاصطناعي. [انقر]</a:t>
            </a:r>
          </a:p>
          <a:p>
            <a:pPr rtl="1" algn="r"/>
            <a:r>
              <a:t>[3] ثالثًا: يوصلك إلى إنسان. يستمع أولًا، ثم يقترح من تتحدث إليه، ويكتب الرسالة الأولى… وأنت من يرسلها. [انقر]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t>[0] لنرَ عمر وهو يستخدم «خطوة». [انقر: يبدأ الفيديو]</a:t>
            </a:r>
          </a:p>
          <a:p>
            <a:pPr rtl="1" algn="r"/>
            <a:r>
              <a:t>[1] يكتب عن صديقه يوسف، الذي لم يعد يرد عليه. لاحظوا: اسم يوسف تلون بالأصفر. [انقر]</a:t>
            </a:r>
          </a:p>
          <a:p>
            <a:pPr rtl="1" algn="r"/>
            <a:r>
              <a:t>[2] يرسل الرسالة، وتحتها إيصال يبين ما وصل فعلًا: «اسم واحد»، لا «يوسف». الهاتف وحده يعرف من هو. [انقر]</a:t>
            </a:r>
          </a:p>
          <a:p>
            <a:pPr rtl="1" algn="r"/>
            <a:r>
              <a:t>[3] «خطوة» لا يشخص، ولا يكرر كلامه. يستمع إليه، ثم يسأله سؤالًا واحدًا بسيطًا. [انقر]</a:t>
            </a:r>
          </a:p>
          <a:p>
            <a:pPr rtl="1" algn="r"/>
            <a:r>
              <a:t>[4] ثم يقول: «مش عارف مع مني نحكي»… فيقترح عليه أشخاصًا، ولكل اقتراح سببه. [انقر]</a:t>
            </a:r>
          </a:p>
          <a:p>
            <a:pPr rtl="1" algn="r"/>
            <a:r>
              <a:t>[5] ومع كل شخص رسالة أولى جاهزة بلهجته. يعدلها… ويرسلها بنفسه. لا شيء يُرسَل نيابة عنه. [انقر]</a:t>
            </a:r>
          </a:p>
          <a:p>
            <a:pPr rtl="1" algn="r"/>
            <a:r>
              <a:t>[6] وزر «نحتاج مساعدة توا» موجود في كل شاشة. يفتح صفحة ثابتة مراجَعة، تعمل حتى دون إنترنت. [انقر]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t>[0] الخصوصية عندنا ليست وعدًا… بل خطوة تقنية تحدث على الهاتف. [انقر]</a:t>
            </a:r>
          </a:p>
          <a:p>
            <a:pPr rtl="1" algn="r"/>
            <a:r>
              <a:t>[1] هذه رسالة عمر كما كتبها. [انقر]</a:t>
            </a:r>
          </a:p>
          <a:p>
            <a:pPr rtl="1" algn="r"/>
            <a:r>
              <a:t>[2] وهذا ما يصل فعلًا إلى الذكاء الاصطناعي: صار الاسم رمزًا. [انقر]</a:t>
            </a:r>
          </a:p>
          <a:p>
            <a:pPr rtl="1" algn="r"/>
            <a:r>
              <a:t>[3] وعندما يعود الرد، يعيد الهاتف الأسماء الحقيقية. لا حسابات، ولا سجلات محادثات على خادمنا، والحفظ اختياري. [انقر]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t>[0] ماذا يفعل الذكاء الاصطناعي بالضبط؟ [انقر]</a:t>
            </a:r>
          </a:p>
          <a:p>
            <a:pPr rtl="1" algn="r"/>
            <a:r>
              <a:t>[1] أولًا: يفحص كل رسالة بحثًا عن الخطر. وإذا شك، يفتح صفحة الطوارئ. [انقر]</a:t>
            </a:r>
          </a:p>
          <a:p>
            <a:pPr rtl="1" algn="r"/>
            <a:r>
              <a:t>[2] ثانيًا: يرد ردًا قائمًا على الإصغاء، مستوحى من الإسعافات الأولية النفسية: استمع أولًا، ثم اربط بالناس. [انقر]</a:t>
            </a:r>
          </a:p>
          <a:p>
            <a:pPr rtl="1" algn="r"/>
            <a:r>
              <a:t>[3] ثالثًا: يختار نوع الدعم المناسب من قائمة ثابتة، مع سبب واضح، ويكتب الرسالة الأولى. [انقر]</a:t>
            </a:r>
          </a:p>
          <a:p>
            <a:pPr rtl="1" algn="r"/>
            <a:r>
              <a:t>[4] أما ما يخص السلامة، فهو نص ثابت مراجَع… لا يكتبه الذكاء الاصطناعي أبدًا. [انقر]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t>[0] واختبرنا ذلك على رسائل افتراضية. [انقر]</a:t>
            </a:r>
          </a:p>
          <a:p>
            <a:pPr rtl="1" algn="r"/>
            <a:r>
              <a:t>[1] أزال الهاتف تسعة وأربعين من أصل اثنين وخمسين اسمًا ورقمًا زرعناها… دون إنترنت. [انقر]</a:t>
            </a:r>
          </a:p>
          <a:p>
            <a:pPr rtl="1" algn="r"/>
            <a:r>
              <a:t>[2] والتقط فحص الخطر تسع عشرة صياغة خطرة من عشرين، دون أي إنذار كاذب. [انقر]</a:t>
            </a:r>
          </a:p>
          <a:p>
            <a:pPr rtl="1" algn="r"/>
            <a:r>
              <a:t>[3] ورفض التشخيص والدواء في الطلبات العشرة كلها. [انقر]</a:t>
            </a:r>
          </a:p>
          <a:p>
            <a:pPr rtl="1" algn="r"/>
            <a:r>
              <a:t>[4] وكل جزء من التصميم مبني على أبحاث منشورة: أثر العلاقات الاجتماعية، وحواجز طلب المساعدة عند الشباب، وقوة الخطة الملموسة. [انقر]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t>[0] قبل أن نبني، راجعنا المشروع مقابل وثيقتين وطنيتين: الاستراتيجية الوطنية للذكاء الاصطناعي، والميثاق الوطني لأخلاقياته. [انقر]</a:t>
            </a:r>
          </a:p>
          <a:p>
            <a:pPr rtl="1" algn="r"/>
            <a:r>
              <a:t>[1] تضع الاستراتيجية الصحة ضمن أربعة قطاعات ذات أولوية في مرحلتها الأولى. ولم نجد فيها ذكرًا صريحًا للصحة النفسية… فجاء «خطوة» ليكمل هذه الأولوية، دون تشخيص. [انقر]</a:t>
            </a:r>
          </a:p>
          <a:p>
            <a:pPr rtl="1" algn="r"/>
            <a:r>
              <a:t>[2] ومن قيمها: الإنسانية، والخصوصية، والشمولية. وتشير إلى مساعد باللهجة الليبية. وهذا ما بنيناه: الهوية تُحذف على الهاتف، والخدمة مجانية، وباللهجة الليبية. [انقر]</a:t>
            </a:r>
          </a:p>
          <a:p>
            <a:pPr rtl="1" algn="r"/>
            <a:r>
              <a:t>[3] وتدعو إلى السيادة الرقمية، وإلى البدء بمشاريع تجريبية سريعة الأثر. لذلك نبدأ بتجربة في جامعة واحدة، ثم ننقل الاستضافة إلى ليبيا. [انقر]</a:t>
            </a:r>
          </a:p>
          <a:p>
            <a:pPr rtl="1" algn="r"/>
            <a:r>
              <a:t>[4] ومن الميثاق: صممنا «خطوة» وفق متطلبات الفئة عالية الخطورة: توقف آمن، وموافقة صريحة، وشرح لكل اقتراح، ولا تلاعب. [انقر]</a:t>
            </a:r>
          </a:p>
          <a:p>
            <a:pPr rtl="1" algn="r"/>
            <a:r>
              <a:t>[5] باختصار: «خطوة» لا يبتعد عن الاستراتيجية الوطنية… بل يخدم أولوياتها. [انقر]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t>[0] كم يكلف ذلك؟ [انقر]</a:t>
            </a:r>
          </a:p>
          <a:p>
            <a:pPr rtl="1" algn="r"/>
            <a:r>
              <a:t>[1] تقديرنا: أقل من ثلاثة سنتات للمحادثة الواحدة. أي إن عشرة آلاف محادثة في الشهر تكلف بين عشرات الدولارات وبضع مئات منها. [انقر]</a:t>
            </a:r>
          </a:p>
          <a:p>
            <a:pPr rtl="1" algn="r"/>
            <a:r>
              <a:t>[2] ولن يدفع الشاب شيئًا: لا إعلانات، ولا اشتراك، ولا بيع بيانات… فنحن لا نملك بياناته أصلًا. [انقر]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t>[0] من يمول «خطوة»؟ ولماذا؟ [انقر]</a:t>
            </a:r>
          </a:p>
          <a:p>
            <a:pPr rtl="1" algn="r"/>
            <a:r>
              <a:t>[1] الدولة: لأنه يخدم أولوية الصحة في الاستراتيجية الوطنية، ويبني قدرة ليبية في معالجة اللهجة. [انقر]</a:t>
            </a:r>
          </a:p>
          <a:p>
            <a:pPr rtl="1" algn="r"/>
            <a:r>
              <a:t>[2] والجامعات، بنسخة تقترح مرشديها المعتمدين. والمانحون الدوليون العاملون في الدعم النفسي في ليبيا. [انقر]</a:t>
            </a:r>
          </a:p>
          <a:p>
            <a:pPr rtl="1" algn="r"/>
            <a:r>
              <a:t>[3] ويمكن ترخيص طبقة الخصوصية نفسها لتطبيقات أخرى تتعامل مع نصوص حساسة. [انقر]</a:t>
            </a:r>
          </a:p>
          <a:p>
            <a:pPr rtl="1" algn="r"/>
            <a:r>
              <a:t>[4] ومقياس نجاحنا: كم شخصًا خطا خطوته الأولى نحو إنسان… لا كم بقي في التطبيق. [انقر]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t>[0] والخطوة التالية… هي خطوتنا نحن. [انقر]</a:t>
            </a:r>
          </a:p>
          <a:p>
            <a:pPr rtl="1" algn="r"/>
            <a:r>
              <a:t>[1] تجربة في جامعة واحدة، مع مختص نفسي ليبي يراجع المحتوى كله. [انقر]</a:t>
            </a:r>
          </a:p>
          <a:p>
            <a:pPr rtl="1" algn="r"/>
            <a:r>
              <a:t>[2] ثم نقيس الأثر الحقيقي: هل تواصل الشباب فعلًا مع شخص؟ [انقر]</a:t>
            </a:r>
          </a:p>
          <a:p>
            <a:pPr rtl="1" algn="r"/>
            <a:r>
              <a:t>[3] ثم ننقل الاستضافة إلى بنية تحتية ليبية، ونتوسع. [انقر]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t>[0] «خطوة» لا يحل محل الطبيب النفسي. [انقر]</a:t>
            </a:r>
          </a:p>
          <a:p>
            <a:pPr rtl="1" algn="r"/>
            <a:r>
              <a:t>[1] بل يساعد الشاب الليبي على الخطوة الأولى نحو إنسان… بكلماته هو، ودون أن يتخلى عن خصوصيته. [انقر]</a:t>
            </a:r>
          </a:p>
          <a:p>
            <a:pPr rtl="1" algn="r"/>
            <a:r>
              <a:t>[2] وتلك الرسالة التي مسحناها في البداية… نريدها أن تُرسَل هذه المرة. [انقر]</a:t>
            </a:r>
          </a:p>
          <a:p>
            <a:pPr rtl="1" algn="r"/>
            <a:r>
              <a:t>[3] شكرًا لكم. ويسعدنا أن نجيب عن أسئلتكم.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t>[0] هذا هو التسجيل كاملًا، دون قص. [انقر: يبدأ الفيديو]</a:t>
            </a:r>
          </a:p>
          <a:p>
            <a:pPr rtl="1" algn="r"/>
            <a:r>
              <a:t>[1] عمر يكتب عن صديقه يوسف، والاسم يُحذف قبل أن يغادر الهاتف. ثم يستمع إليه «خطوة»، ويقترح عليه أشخاصًا، ويكتب له رسالة أولى يرسلها بنفسه.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t>[0] وحتى تتأكدوا أن هذا ليس تسجيلًا فقط… لننتقل إلى الهاتف مباشرة. [انتقل إلى نافذة الهاتف في Android Studio]</a:t>
            </a:r>
          </a:p>
          <a:p>
            <a:pPr rtl="1" algn="r"/>
            <a:r>
              <a:t>[1] [اكتب] خوي أحمد ديما يتريق عليا قدام صحابه</a:t>
            </a:r>
          </a:p>
          <a:p>
            <a:pPr rtl="1" algn="r"/>
            <a:r>
              <a:t>[2] لاحظوا الاسم يتلون… أرسل… وهذا هو الإيصال: الاسم لم يغادر الهاتف.</a:t>
            </a:r>
          </a:p>
          <a:p>
            <a:pPr rtl="1" algn="r"/>
            <a:r>
              <a:t>[3] والرد يصل باللهجة الليبية، من النموذج مباشرة. [ارجع إلى العرض]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t>[0] ChatGPT مصمم لكل شيء، ولإبقائك تتحدث معه. أما «خطوة» فمصمم لشيء واحد: أن يوصلك إلى إنسان، بلهجتك، دون أن يعرف من أنت.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t>[0] لا يكتشف «خطوة» كل أزمة، ولا ندعي ذلك. لكن المساعدة العاجلة لا تنتظر أي اكتشاف: الزر في كل شاشة، والصفحة ثابتة وتعمل دون إنترنت.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t>[0] لا نقول «مجهول الهوية» ولا «مشفر بالكامل». نقول بدقة: تُحذف الهوية على الهاتف، ولا يُخزَّن شيء على خادمنا.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t>[0] نقول «مصمم وفق متطلبات الفئة عالية الخطورة»، ولا نقول «معتمد» ولا «مطابق». وقبل الإطلاق نحتاج إلى التقييم الأخلاقي المسبق والتدقيق المستقل اللذين يطلبهما الميثاق.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t>[0] الأدلة تدعم كل جزء من التصميم، لكننا لم نقِس أثر «خطوة» نفسه بعد. وهذه خطوتنا التالية، مع جامعة ومختص ليبي.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t>[0] نحن فريق من خمسة: الذكاء الاصطناعي، والواجهات، والخصوصية، والتقييم باللهجة الليبية.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Relationship Id="rId9" Type="http://schemas.openxmlformats.org/officeDocument/2006/relationships/image" Target="../media/image28.png"/><Relationship Id="rId10" Type="http://schemas.openxmlformats.org/officeDocument/2006/relationships/image" Target="../media/image29.png"/><Relationship Id="rId11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Relationship Id="rId6" Type="http://schemas.openxmlformats.org/officeDocument/2006/relationships/image" Target="../media/image39.png"/><Relationship Id="rId7" Type="http://schemas.openxmlformats.org/officeDocument/2006/relationships/image" Target="../media/image40.png"/><Relationship Id="rId8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Relationship Id="rId6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microsoft.com/office/2007/relationships/media" Target="../media/media1.mp4"/><Relationship Id="rId4" Type="http://schemas.openxmlformats.org/officeDocument/2006/relationships/video" Target="../media/media1.mp4"/><Relationship Id="rId5" Type="http://schemas.openxmlformats.org/officeDocument/2006/relationships/image" Target="../media/image46.png"/><Relationship Id="rId6" Type="http://schemas.microsoft.com/office/2007/relationships/media" Target="../media/media2.mp4"/><Relationship Id="rId7" Type="http://schemas.openxmlformats.org/officeDocument/2006/relationships/video" Target="../media/media2.mp4"/><Relationship Id="rId8" Type="http://schemas.openxmlformats.org/officeDocument/2006/relationships/image" Target="../media/image47.png"/><Relationship Id="rId9" Type="http://schemas.microsoft.com/office/2007/relationships/media" Target="../media/media3.mp4"/><Relationship Id="rId10" Type="http://schemas.openxmlformats.org/officeDocument/2006/relationships/video" Target="../media/media3.mp4"/><Relationship Id="rId11" Type="http://schemas.openxmlformats.org/officeDocument/2006/relationships/image" Target="../media/image48.png"/><Relationship Id="rId12" Type="http://schemas.microsoft.com/office/2007/relationships/media" Target="../media/media4.mp4"/><Relationship Id="rId13" Type="http://schemas.openxmlformats.org/officeDocument/2006/relationships/video" Target="../media/media4.mp4"/><Relationship Id="rId14" Type="http://schemas.openxmlformats.org/officeDocument/2006/relationships/image" Target="../media/image49.png"/><Relationship Id="rId15" Type="http://schemas.microsoft.com/office/2007/relationships/media" Target="../media/media5.mp4"/><Relationship Id="rId16" Type="http://schemas.openxmlformats.org/officeDocument/2006/relationships/video" Target="../media/media5.mp4"/><Relationship Id="rId17" Type="http://schemas.openxmlformats.org/officeDocument/2006/relationships/image" Target="../media/image50.png"/><Relationship Id="rId18" Type="http://schemas.microsoft.com/office/2007/relationships/media" Target="../media/media6.mp4"/><Relationship Id="rId19" Type="http://schemas.openxmlformats.org/officeDocument/2006/relationships/video" Target="../media/media6.mp4"/><Relationship Id="rId20" Type="http://schemas.openxmlformats.org/officeDocument/2006/relationships/image" Target="../media/image51.png"/><Relationship Id="rId21" Type="http://schemas.openxmlformats.org/officeDocument/2006/relationships/image" Target="../media/image52.png"/><Relationship Id="rId22" Type="http://schemas.openxmlformats.org/officeDocument/2006/relationships/image" Target="../media/image53.png"/><Relationship Id="rId23" Type="http://schemas.openxmlformats.org/officeDocument/2006/relationships/image" Target="../media/image54.png"/><Relationship Id="rId24" Type="http://schemas.openxmlformats.org/officeDocument/2006/relationships/image" Target="../media/image55.png"/><Relationship Id="rId25" Type="http://schemas.openxmlformats.org/officeDocument/2006/relationships/image" Target="../media/image56.png"/><Relationship Id="rId26" Type="http://schemas.openxmlformats.org/officeDocument/2006/relationships/image" Target="../media/image57.png"/><Relationship Id="rId27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Relationship Id="rId3" Type="http://schemas.openxmlformats.org/officeDocument/2006/relationships/image" Target="../media/image59.png"/><Relationship Id="rId4" Type="http://schemas.openxmlformats.org/officeDocument/2006/relationships/image" Target="../media/image60.png"/><Relationship Id="rId5" Type="http://schemas.openxmlformats.org/officeDocument/2006/relationships/image" Target="../media/image61.png"/><Relationship Id="rId6" Type="http://schemas.openxmlformats.org/officeDocument/2006/relationships/image" Target="../media/image62.png"/><Relationship Id="rId7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png"/><Relationship Id="rId3" Type="http://schemas.openxmlformats.org/officeDocument/2006/relationships/image" Target="../media/image64.png"/><Relationship Id="rId4" Type="http://schemas.openxmlformats.org/officeDocument/2006/relationships/image" Target="../media/image65.png"/><Relationship Id="rId5" Type="http://schemas.openxmlformats.org/officeDocument/2006/relationships/image" Target="../media/image66.png"/><Relationship Id="rId6" Type="http://schemas.openxmlformats.org/officeDocument/2006/relationships/image" Target="../media/image67.png"/><Relationship Id="rId7" Type="http://schemas.openxmlformats.org/officeDocument/2006/relationships/image" Target="../media/image68.png"/><Relationship Id="rId8" Type="http://schemas.openxmlformats.org/officeDocument/2006/relationships/image" Target="../media/image69.png"/><Relationship Id="rId9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Relationship Id="rId3" Type="http://schemas.openxmlformats.org/officeDocument/2006/relationships/image" Target="../media/image71.png"/><Relationship Id="rId4" Type="http://schemas.openxmlformats.org/officeDocument/2006/relationships/image" Target="../media/image72.png"/><Relationship Id="rId5" Type="http://schemas.openxmlformats.org/officeDocument/2006/relationships/image" Target="../media/image73.png"/><Relationship Id="rId6" Type="http://schemas.openxmlformats.org/officeDocument/2006/relationships/image" Target="../media/image74.png"/><Relationship Id="rId7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png"/><Relationship Id="rId3" Type="http://schemas.openxmlformats.org/officeDocument/2006/relationships/image" Target="../media/image76.png"/><Relationship Id="rId4" Type="http://schemas.openxmlformats.org/officeDocument/2006/relationships/image" Target="../media/image77.png"/><Relationship Id="rId5" Type="http://schemas.openxmlformats.org/officeDocument/2006/relationships/image" Target="../media/image78.png"/><Relationship Id="rId6" Type="http://schemas.openxmlformats.org/officeDocument/2006/relationships/image" Target="../media/image79.png"/><Relationship Id="rId7" Type="http://schemas.openxmlformats.org/officeDocument/2006/relationships/image" Target="../media/image80.png"/><Relationship Id="rId8" Type="http://schemas.openxmlformats.org/officeDocument/2006/relationships/image" Target="../media/image81.png"/><Relationship Id="rId9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2.png"/><Relationship Id="rId3" Type="http://schemas.openxmlformats.org/officeDocument/2006/relationships/image" Target="../media/image83.png"/><Relationship Id="rId4" Type="http://schemas.openxmlformats.org/officeDocument/2006/relationships/image" Target="../media/image84.png"/><Relationship Id="rId5" Type="http://schemas.openxmlformats.org/officeDocument/2006/relationships/image" Target="../media/image85.png"/><Relationship Id="rId6" Type="http://schemas.openxmlformats.org/officeDocument/2006/relationships/image" Target="../media/image86.png"/><Relationship Id="rId7" Type="http://schemas.openxmlformats.org/officeDocument/2006/relationships/image" Target="../media/image87.png"/><Relationship Id="rId8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8.png"/><Relationship Id="rId3" Type="http://schemas.openxmlformats.org/officeDocument/2006/relationships/image" Target="../media/image89.png"/><Relationship Id="rId4" Type="http://schemas.openxmlformats.org/officeDocument/2006/relationships/image" Target="../media/image90.png"/><Relationship Id="rId5" Type="http://schemas.openxmlformats.org/officeDocument/2006/relationships/image" Target="../media/image91.png"/><Relationship Id="rId6" Type="http://schemas.openxmlformats.org/officeDocument/2006/relationships/image" Target="../media/image92.png"/><Relationship Id="rId7" Type="http://schemas.openxmlformats.org/officeDocument/2006/relationships/image" Target="../media/image93.png"/><Relationship Id="rId8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4.png"/><Relationship Id="rId3" Type="http://schemas.openxmlformats.org/officeDocument/2006/relationships/image" Target="../media/image95.png"/><Relationship Id="rId4" Type="http://schemas.openxmlformats.org/officeDocument/2006/relationships/image" Target="../media/image96.png"/><Relationship Id="rId5" Type="http://schemas.openxmlformats.org/officeDocument/2006/relationships/image" Target="../media/image97.png"/><Relationship Id="rId6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8.png"/><Relationship Id="rId3" Type="http://schemas.openxmlformats.org/officeDocument/2006/relationships/image" Target="../media/image99.png"/><Relationship Id="rId4" Type="http://schemas.openxmlformats.org/officeDocument/2006/relationships/image" Target="../media/image100.png"/><Relationship Id="rId5" Type="http://schemas.openxmlformats.org/officeDocument/2006/relationships/image" Target="../media/image101.png"/><Relationship Id="rId6" Type="http://schemas.openxmlformats.org/officeDocument/2006/relationships/image" Target="../media/image102.png"/><Relationship Id="rId7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3.png"/><Relationship Id="rId3" Type="http://schemas.microsoft.com/office/2007/relationships/media" Target="../media/media7.mp4"/><Relationship Id="rId4" Type="http://schemas.openxmlformats.org/officeDocument/2006/relationships/video" Target="../media/media7.mp4"/><Relationship Id="rId5" Type="http://schemas.openxmlformats.org/officeDocument/2006/relationships/image" Target="../media/image104.png"/><Relationship Id="rId6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5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6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7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8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9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0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1.png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" descr="الافتتاح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tep 0" descr="l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6600" y="1784350"/>
            <a:ext cx="8178800" cy="1263650"/>
          </a:xfrm>
          <a:prstGeom prst="rect">
            <a:avLst/>
          </a:prstGeom>
        </p:spPr>
      </p:pic>
      <p:pic>
        <p:nvPicPr>
          <p:cNvPr id="4" name="Step 1" descr="l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5800" y="1993900"/>
            <a:ext cx="4108450" cy="838200"/>
          </a:xfrm>
          <a:prstGeom prst="rect">
            <a:avLst/>
          </a:prstGeom>
        </p:spPr>
      </p:pic>
      <p:pic>
        <p:nvPicPr>
          <p:cNvPr id="5" name="Step 2" descr="l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6550" y="3181350"/>
            <a:ext cx="8978900" cy="933450"/>
          </a:xfrm>
          <a:prstGeom prst="rect">
            <a:avLst/>
          </a:prstGeom>
        </p:spPr>
      </p:pic>
      <p:pic>
        <p:nvPicPr>
          <p:cNvPr id="6" name="Step 3" descr="l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29100" y="4248150"/>
            <a:ext cx="3733800" cy="825500"/>
          </a:xfrm>
          <a:prstGeom prst="rect">
            <a:avLst/>
          </a:prstGeom>
        </p:spPr>
      </p:pic>
      <p:pic>
        <p:nvPicPr>
          <p:cNvPr id="7" name="Step 3" descr="l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29100" y="4635500"/>
            <a:ext cx="2838450" cy="60325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9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xit" presetSubtype="8" fill="hold" grpId="1" nodeType="withEffect">
                                  <p:stCondLst>
                                    <p:cond delay="240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4" dur="76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75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7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7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2" presetClass="entr" presetSubtype="2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" descr="خطوة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tep 0" descr="l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0" y="3752850"/>
            <a:ext cx="3835400" cy="692150"/>
          </a:xfrm>
          <a:prstGeom prst="rect">
            <a:avLst/>
          </a:prstGeom>
        </p:spPr>
      </p:pic>
      <p:pic>
        <p:nvPicPr>
          <p:cNvPr id="4" name="Step 0" descr="l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850" y="1270000"/>
            <a:ext cx="6445250" cy="558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" descr="عمر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tep 0" descr="l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419100"/>
            <a:ext cx="1257300" cy="1098550"/>
          </a:xfrm>
          <a:prstGeom prst="rect">
            <a:avLst/>
          </a:prstGeom>
        </p:spPr>
      </p:pic>
      <p:pic>
        <p:nvPicPr>
          <p:cNvPr id="4" name="Step 1" descr="l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3050" y="5429250"/>
            <a:ext cx="1784350" cy="558800"/>
          </a:xfrm>
          <a:prstGeom prst="rect">
            <a:avLst/>
          </a:prstGeom>
        </p:spPr>
      </p:pic>
      <p:pic>
        <p:nvPicPr>
          <p:cNvPr id="5" name="Step 2" descr="l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9100" y="2133600"/>
            <a:ext cx="7226300" cy="1587500"/>
          </a:xfrm>
          <a:prstGeom prst="rect">
            <a:avLst/>
          </a:prstGeom>
        </p:spPr>
      </p:pic>
      <p:pic>
        <p:nvPicPr>
          <p:cNvPr id="6" name="Step 3" descr="l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29100" y="3644900"/>
            <a:ext cx="7226300" cy="18542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855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7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7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" descr="الفجوة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tep 0" descr="l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5400" y="3041650"/>
            <a:ext cx="6350000" cy="3009900"/>
          </a:xfrm>
          <a:prstGeom prst="rect">
            <a:avLst/>
          </a:prstGeom>
        </p:spPr>
      </p:pic>
      <p:pic>
        <p:nvPicPr>
          <p:cNvPr id="4" name="Step 1" descr="l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1993900"/>
            <a:ext cx="3924300" cy="2806700"/>
          </a:xfrm>
          <a:prstGeom prst="rect">
            <a:avLst/>
          </a:prstGeom>
        </p:spPr>
      </p:pic>
      <p:pic>
        <p:nvPicPr>
          <p:cNvPr id="5" name="Step 2" descr="l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924300"/>
            <a:ext cx="3924300" cy="2806700"/>
          </a:xfrm>
          <a:prstGeom prst="rect">
            <a:avLst/>
          </a:prstGeom>
        </p:spPr>
      </p:pic>
      <p:pic>
        <p:nvPicPr>
          <p:cNvPr id="6" name="Step 1 change" descr="c1-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92700" y="3028950"/>
            <a:ext cx="6375400" cy="3028950"/>
          </a:xfrm>
          <a:prstGeom prst="rect">
            <a:avLst/>
          </a:prstGeom>
        </p:spPr>
      </p:pic>
      <p:pic>
        <p:nvPicPr>
          <p:cNvPr id="7" name="Step 2 change" descr="c1-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92700" y="3028950"/>
            <a:ext cx="6375400" cy="302895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75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7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" descr="أين ينقطع الطري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tep 1" descr="l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5100" y="2082800"/>
            <a:ext cx="2400300" cy="1879600"/>
          </a:xfrm>
          <a:prstGeom prst="rect">
            <a:avLst/>
          </a:prstGeom>
        </p:spPr>
      </p:pic>
      <p:pic>
        <p:nvPicPr>
          <p:cNvPr id="4" name="Step 1" descr="l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1850" y="2616200"/>
            <a:ext cx="1987550" cy="819150"/>
          </a:xfrm>
          <a:prstGeom prst="rect">
            <a:avLst/>
          </a:prstGeom>
        </p:spPr>
      </p:pic>
      <p:pic>
        <p:nvPicPr>
          <p:cNvPr id="5" name="Step 1" descr="l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5850" y="2082800"/>
            <a:ext cx="2400300" cy="1879600"/>
          </a:xfrm>
          <a:prstGeom prst="rect">
            <a:avLst/>
          </a:prstGeom>
        </p:spPr>
      </p:pic>
      <p:pic>
        <p:nvPicPr>
          <p:cNvPr id="6" name="Step 1" descr="l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22600" y="2616200"/>
            <a:ext cx="1987550" cy="819150"/>
          </a:xfrm>
          <a:prstGeom prst="rect">
            <a:avLst/>
          </a:prstGeom>
        </p:spPr>
      </p:pic>
      <p:pic>
        <p:nvPicPr>
          <p:cNvPr id="7" name="Step 1" descr="l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6600" y="2082800"/>
            <a:ext cx="2400300" cy="1879600"/>
          </a:xfrm>
          <a:prstGeom prst="rect">
            <a:avLst/>
          </a:prstGeom>
        </p:spPr>
      </p:pic>
      <p:pic>
        <p:nvPicPr>
          <p:cNvPr id="8" name="Step 2" descr="l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81850" y="2362200"/>
            <a:ext cx="1987550" cy="1416050"/>
          </a:xfrm>
          <a:prstGeom prst="rect">
            <a:avLst/>
          </a:prstGeom>
        </p:spPr>
      </p:pic>
      <p:pic>
        <p:nvPicPr>
          <p:cNvPr id="9" name="Step 3" descr="l7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70600" y="4349750"/>
            <a:ext cx="5384800" cy="1733550"/>
          </a:xfrm>
          <a:prstGeom prst="rect">
            <a:avLst/>
          </a:prstGeom>
        </p:spPr>
      </p:pic>
      <p:pic>
        <p:nvPicPr>
          <p:cNvPr id="10" name="Step 3" descr="l8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6600" y="4349750"/>
            <a:ext cx="5384800" cy="173355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75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7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7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7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7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" descr="في ليبيا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tep 1" descr="l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1300" y="2019300"/>
            <a:ext cx="3594100" cy="2794000"/>
          </a:xfrm>
          <a:prstGeom prst="rect">
            <a:avLst/>
          </a:prstGeom>
        </p:spPr>
      </p:pic>
      <p:pic>
        <p:nvPicPr>
          <p:cNvPr id="4" name="Step 2" descr="l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8950" y="2019300"/>
            <a:ext cx="3594100" cy="2794000"/>
          </a:xfrm>
          <a:prstGeom prst="rect">
            <a:avLst/>
          </a:prstGeom>
        </p:spPr>
      </p:pic>
      <p:pic>
        <p:nvPicPr>
          <p:cNvPr id="5" name="Step 3" descr="l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600" y="2019300"/>
            <a:ext cx="3594100" cy="2794000"/>
          </a:xfrm>
          <a:prstGeom prst="rect">
            <a:avLst/>
          </a:prstGeom>
        </p:spPr>
      </p:pic>
      <p:pic>
        <p:nvPicPr>
          <p:cNvPr id="6" name="Step 4" descr="l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6600" y="4864100"/>
            <a:ext cx="10718800" cy="89535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6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6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7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" descr="الفكرة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tep 1" descr="l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6100" y="2108200"/>
            <a:ext cx="2730500" cy="565150"/>
          </a:xfrm>
          <a:prstGeom prst="rect">
            <a:avLst/>
          </a:prstGeom>
        </p:spPr>
      </p:pic>
      <p:pic>
        <p:nvPicPr>
          <p:cNvPr id="4" name="Step 1" descr="l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4600" y="2743200"/>
            <a:ext cx="6400800" cy="1790700"/>
          </a:xfrm>
          <a:prstGeom prst="rect">
            <a:avLst/>
          </a:prstGeom>
        </p:spPr>
      </p:pic>
      <p:pic>
        <p:nvPicPr>
          <p:cNvPr id="5" name="Step 1" descr="l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00650" y="4121150"/>
            <a:ext cx="3327400" cy="603250"/>
          </a:xfrm>
          <a:prstGeom prst="rect">
            <a:avLst/>
          </a:prstGeom>
        </p:spPr>
      </p:pic>
      <p:pic>
        <p:nvPicPr>
          <p:cNvPr id="6" name="Step 2" descr="l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54600" y="4514850"/>
            <a:ext cx="6400800" cy="1085850"/>
          </a:xfrm>
          <a:prstGeom prst="rect">
            <a:avLst/>
          </a:prstGeom>
        </p:spPr>
      </p:pic>
      <p:pic>
        <p:nvPicPr>
          <p:cNvPr id="7" name="Step 2" descr="l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0850" y="711200"/>
            <a:ext cx="4527550" cy="582295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75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7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" descr="ثلاث ركائز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tep 1" descr="l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6700" y="1955800"/>
            <a:ext cx="3568700" cy="3536950"/>
          </a:xfrm>
          <a:prstGeom prst="rect">
            <a:avLst/>
          </a:prstGeom>
        </p:spPr>
      </p:pic>
      <p:pic>
        <p:nvPicPr>
          <p:cNvPr id="4" name="Step 2" descr="l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1650" y="1955800"/>
            <a:ext cx="3568700" cy="3536950"/>
          </a:xfrm>
          <a:prstGeom prst="rect">
            <a:avLst/>
          </a:prstGeom>
        </p:spPr>
      </p:pic>
      <p:pic>
        <p:nvPicPr>
          <p:cNvPr id="5" name="Step 3" descr="l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600" y="1955800"/>
            <a:ext cx="3568700" cy="353695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75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75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7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" descr="العرض المسجّل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emo chapter 1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14400" y="850900"/>
            <a:ext cx="2589312" cy="5156200"/>
          </a:xfrm>
          <a:prstGeom prst="roundRect">
            <a:avLst>
              <a:gd name="adj" fmla="val 14714"/>
            </a:avLst>
          </a:prstGeom>
        </p:spPr>
      </p:pic>
      <p:pic>
        <p:nvPicPr>
          <p:cNvPr id="4" name="Demo chapter 2">
            <a:hlinkClick r:id="" action="ppaction://media"/>
          </p:cNvPr>
          <p:cNvPicPr>
            <a:picLocks noChangeAspect="1"/>
          </p:cNvPicPr>
          <p:nvPr>
            <a:videoFile r:link="rId7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914400" y="850900"/>
            <a:ext cx="2589312" cy="5156200"/>
          </a:xfrm>
          <a:prstGeom prst="roundRect">
            <a:avLst>
              <a:gd name="adj" fmla="val 14714"/>
            </a:avLst>
          </a:prstGeom>
        </p:spPr>
      </p:pic>
      <p:pic>
        <p:nvPicPr>
          <p:cNvPr id="5" name="Demo chapter 3">
            <a:hlinkClick r:id="" action="ppaction://media"/>
          </p:cNvPr>
          <p:cNvPicPr>
            <a:picLocks noChangeAspect="1"/>
          </p:cNvPicPr>
          <p:nvPr>
            <a:vide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914400" y="850900"/>
            <a:ext cx="2589312" cy="5156200"/>
          </a:xfrm>
          <a:prstGeom prst="roundRect">
            <a:avLst>
              <a:gd name="adj" fmla="val 14714"/>
            </a:avLst>
          </a:prstGeom>
        </p:spPr>
      </p:pic>
      <p:pic>
        <p:nvPicPr>
          <p:cNvPr id="6" name="Demo chapter 4">
            <a:hlinkClick r:id="" action="ppaction://media"/>
          </p:cNvPr>
          <p:cNvPicPr>
            <a:picLocks noChangeAspect="1"/>
          </p:cNvPicPr>
          <p:nvPr>
            <a:videoFile r:link="rId13"/>
            <p:extLst>
              <p:ext uri="{DAA4B4D4-6D71-4841-9C94-3DE7FCFB9230}">
                <p14:media xmlns:p14="http://schemas.microsoft.com/office/powerpoint/2010/main" r:embed="rId12"/>
              </p:ext>
            </p:extLst>
          </p:nvPr>
        </p:nvPicPr>
        <p:blipFill>
          <a:blip r:embed="rId14"/>
          <a:stretch>
            <a:fillRect/>
          </a:stretch>
        </p:blipFill>
        <p:spPr>
          <a:xfrm>
            <a:off x="914400" y="850900"/>
            <a:ext cx="2589312" cy="5156200"/>
          </a:xfrm>
          <a:prstGeom prst="roundRect">
            <a:avLst>
              <a:gd name="adj" fmla="val 14714"/>
            </a:avLst>
          </a:prstGeom>
        </p:spPr>
      </p:pic>
      <p:pic>
        <p:nvPicPr>
          <p:cNvPr id="7" name="Demo chapter 5">
            <a:hlinkClick r:id="" action="ppaction://media"/>
          </p:cNvPr>
          <p:cNvPicPr>
            <a:picLocks noChangeAspect="1"/>
          </p:cNvPicPr>
          <p:nvPr>
            <a:videoFile r:link="rId16"/>
            <p:extLst>
              <p:ext uri="{DAA4B4D4-6D71-4841-9C94-3DE7FCFB9230}">
                <p14:media xmlns:p14="http://schemas.microsoft.com/office/powerpoint/2010/main" r:embed="rId15"/>
              </p:ext>
            </p:extLst>
          </p:nvPr>
        </p:nvPicPr>
        <p:blipFill>
          <a:blip r:embed="rId17"/>
          <a:stretch>
            <a:fillRect/>
          </a:stretch>
        </p:blipFill>
        <p:spPr>
          <a:xfrm>
            <a:off x="914400" y="850900"/>
            <a:ext cx="2589312" cy="5156200"/>
          </a:xfrm>
          <a:prstGeom prst="roundRect">
            <a:avLst>
              <a:gd name="adj" fmla="val 14714"/>
            </a:avLst>
          </a:prstGeom>
        </p:spPr>
      </p:pic>
      <p:pic>
        <p:nvPicPr>
          <p:cNvPr id="8" name="Demo chapter 6">
            <a:hlinkClick r:id="" action="ppaction://media"/>
          </p:cNvPr>
          <p:cNvPicPr>
            <a:picLocks noChangeAspect="1"/>
          </p:cNvPicPr>
          <p:nvPr>
            <a:videoFile r:link="rId19"/>
            <p:extLst>
              <p:ext uri="{DAA4B4D4-6D71-4841-9C94-3DE7FCFB9230}">
                <p14:media xmlns:p14="http://schemas.microsoft.com/office/powerpoint/2010/main" r:embed="rId18"/>
              </p:ext>
            </p:extLst>
          </p:nvPr>
        </p:nvPicPr>
        <p:blipFill>
          <a:blip r:embed="rId20"/>
          <a:stretch>
            <a:fillRect/>
          </a:stretch>
        </p:blipFill>
        <p:spPr>
          <a:xfrm>
            <a:off x="914400" y="850900"/>
            <a:ext cx="2589312" cy="5156200"/>
          </a:xfrm>
          <a:prstGeom prst="roundRect">
            <a:avLst>
              <a:gd name="adj" fmla="val 14714"/>
            </a:avLst>
          </a:prstGeom>
        </p:spPr>
      </p:pic>
      <p:pic>
        <p:nvPicPr>
          <p:cNvPr id="9" name="Step 1" descr="l1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934450" y="2609850"/>
            <a:ext cx="2520950" cy="768350"/>
          </a:xfrm>
          <a:prstGeom prst="rect">
            <a:avLst/>
          </a:prstGeom>
        </p:spPr>
      </p:pic>
      <p:pic>
        <p:nvPicPr>
          <p:cNvPr id="10" name="Step 2" descr="l2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572500" y="3181350"/>
            <a:ext cx="2882900" cy="768350"/>
          </a:xfrm>
          <a:prstGeom prst="rect">
            <a:avLst/>
          </a:prstGeom>
        </p:spPr>
      </p:pic>
      <p:pic>
        <p:nvPicPr>
          <p:cNvPr id="11" name="Step 3" descr="l3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188450" y="3752850"/>
            <a:ext cx="2266950" cy="768350"/>
          </a:xfrm>
          <a:prstGeom prst="rect">
            <a:avLst/>
          </a:prstGeom>
        </p:spPr>
      </p:pic>
      <p:pic>
        <p:nvPicPr>
          <p:cNvPr id="12" name="Step 4" descr="l4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724900" y="4324350"/>
            <a:ext cx="2730500" cy="768350"/>
          </a:xfrm>
          <a:prstGeom prst="rect">
            <a:avLst/>
          </a:prstGeom>
        </p:spPr>
      </p:pic>
      <p:pic>
        <p:nvPicPr>
          <p:cNvPr id="13" name="Step 5" descr="l5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763000" y="4895850"/>
            <a:ext cx="2692400" cy="768350"/>
          </a:xfrm>
          <a:prstGeom prst="rect">
            <a:avLst/>
          </a:prstGeom>
        </p:spPr>
      </p:pic>
      <p:pic>
        <p:nvPicPr>
          <p:cNvPr id="14" name="Step 6" descr="l6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432800" y="5467350"/>
            <a:ext cx="3022600" cy="76835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72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" dur="7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mediacall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6" dur="39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7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mediacall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6" dur="687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7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mediacall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6" dur="510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7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mediacall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6" dur="1599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0" dur="7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mediacall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56" dur="4000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7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61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video>
              <p:cMediaNode vol="0" mute="1">
                <p:cTn id="6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video>
              <p:cMediaNode vol="0" mute="1">
                <p:cTn id="63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video>
              <p:cMediaNode vol="0" mute="1">
                <p:cTn id="64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video>
              <p:cMediaNode vol="0" mute="1">
                <p:cTn id="65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video>
              <p:cMediaNode vol="0" mute="1">
                <p:cTn id="66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" descr="ما يغادر الهاتف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tep 1" descr="l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0600" y="1892300"/>
            <a:ext cx="9194800" cy="1638300"/>
          </a:xfrm>
          <a:prstGeom prst="rect">
            <a:avLst/>
          </a:prstGeom>
        </p:spPr>
      </p:pic>
      <p:pic>
        <p:nvPicPr>
          <p:cNvPr id="4" name="Step 2" descr="l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0600" y="3409950"/>
            <a:ext cx="8623300" cy="990600"/>
          </a:xfrm>
          <a:prstGeom prst="rect">
            <a:avLst/>
          </a:prstGeom>
        </p:spPr>
      </p:pic>
      <p:pic>
        <p:nvPicPr>
          <p:cNvPr id="5" name="Step 2" descr="l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60600" y="4279900"/>
            <a:ext cx="9194800" cy="1638300"/>
          </a:xfrm>
          <a:prstGeom prst="rect">
            <a:avLst/>
          </a:prstGeom>
        </p:spPr>
      </p:pic>
      <p:pic>
        <p:nvPicPr>
          <p:cNvPr id="6" name="Step 3" descr="l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6600" y="5962650"/>
            <a:ext cx="10718800" cy="73025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75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75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7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7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" descr="ماذا يفعل الذكاء الاصطناعي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tep 1" descr="l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500" y="1955800"/>
            <a:ext cx="3263900" cy="1847850"/>
          </a:xfrm>
          <a:prstGeom prst="rect">
            <a:avLst/>
          </a:prstGeom>
        </p:spPr>
      </p:pic>
      <p:pic>
        <p:nvPicPr>
          <p:cNvPr id="4" name="Step 2" descr="l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1900" y="2571750"/>
            <a:ext cx="755650" cy="609600"/>
          </a:xfrm>
          <a:prstGeom prst="rect">
            <a:avLst/>
          </a:prstGeom>
        </p:spPr>
      </p:pic>
      <p:pic>
        <p:nvPicPr>
          <p:cNvPr id="5" name="Step 2" descr="l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4050" y="1955800"/>
            <a:ext cx="3263900" cy="1847850"/>
          </a:xfrm>
          <a:prstGeom prst="rect">
            <a:avLst/>
          </a:prstGeom>
        </p:spPr>
      </p:pic>
      <p:pic>
        <p:nvPicPr>
          <p:cNvPr id="6" name="Step 3" descr="l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54450" y="2571750"/>
            <a:ext cx="755650" cy="609600"/>
          </a:xfrm>
          <a:prstGeom prst="rect">
            <a:avLst/>
          </a:prstGeom>
        </p:spPr>
      </p:pic>
      <p:pic>
        <p:nvPicPr>
          <p:cNvPr id="7" name="Step 3" descr="l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6600" y="1955800"/>
            <a:ext cx="3263900" cy="1847850"/>
          </a:xfrm>
          <a:prstGeom prst="rect">
            <a:avLst/>
          </a:prstGeom>
        </p:spPr>
      </p:pic>
      <p:pic>
        <p:nvPicPr>
          <p:cNvPr id="8" name="Step 4" descr="l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6600" y="3848100"/>
            <a:ext cx="10718800" cy="137795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75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75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7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7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7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7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" descr="ما قسناه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tep 1" descr="l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1150" y="1612900"/>
            <a:ext cx="3524250" cy="2266950"/>
          </a:xfrm>
          <a:prstGeom prst="rect">
            <a:avLst/>
          </a:prstGeom>
        </p:spPr>
      </p:pic>
      <p:pic>
        <p:nvPicPr>
          <p:cNvPr id="4" name="Step 2" descr="l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700" y="1612900"/>
            <a:ext cx="3530600" cy="2266950"/>
          </a:xfrm>
          <a:prstGeom prst="rect">
            <a:avLst/>
          </a:prstGeom>
        </p:spPr>
      </p:pic>
      <p:pic>
        <p:nvPicPr>
          <p:cNvPr id="5" name="Step 3" descr="l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600" y="1612900"/>
            <a:ext cx="3524250" cy="2266950"/>
          </a:xfrm>
          <a:prstGeom prst="rect">
            <a:avLst/>
          </a:prstGeom>
        </p:spPr>
      </p:pic>
      <p:pic>
        <p:nvPicPr>
          <p:cNvPr id="6" name="Step 4" descr="l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6600" y="4013200"/>
            <a:ext cx="10718800" cy="141605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75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75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7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7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" descr="الاستراتيجية والميثا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tep 1" descr="l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600" y="2514600"/>
            <a:ext cx="10718800" cy="742950"/>
          </a:xfrm>
          <a:prstGeom prst="rect">
            <a:avLst/>
          </a:prstGeom>
        </p:spPr>
      </p:pic>
      <p:pic>
        <p:nvPicPr>
          <p:cNvPr id="4" name="Step 2" descr="l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600" y="3009900"/>
            <a:ext cx="10718800" cy="749300"/>
          </a:xfrm>
          <a:prstGeom prst="rect">
            <a:avLst/>
          </a:prstGeom>
        </p:spPr>
      </p:pic>
      <p:pic>
        <p:nvPicPr>
          <p:cNvPr id="5" name="Step 2" descr="l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600" y="3511550"/>
            <a:ext cx="10718800" cy="742950"/>
          </a:xfrm>
          <a:prstGeom prst="rect">
            <a:avLst/>
          </a:prstGeom>
        </p:spPr>
      </p:pic>
      <p:pic>
        <p:nvPicPr>
          <p:cNvPr id="6" name="Step 3" descr="l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6600" y="4006850"/>
            <a:ext cx="10718800" cy="749300"/>
          </a:xfrm>
          <a:prstGeom prst="rect">
            <a:avLst/>
          </a:prstGeom>
        </p:spPr>
      </p:pic>
      <p:pic>
        <p:nvPicPr>
          <p:cNvPr id="7" name="Step 4" descr="l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6600" y="4508500"/>
            <a:ext cx="10718800" cy="742950"/>
          </a:xfrm>
          <a:prstGeom prst="rect">
            <a:avLst/>
          </a:prstGeom>
        </p:spPr>
      </p:pic>
      <p:pic>
        <p:nvPicPr>
          <p:cNvPr id="8" name="Step 5" descr="l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6600" y="5048250"/>
            <a:ext cx="10718800" cy="76835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75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75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7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7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7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7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" descr="التكلفة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tep 1" descr="l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9250" y="1377950"/>
            <a:ext cx="7296150" cy="2482850"/>
          </a:xfrm>
          <a:prstGeom prst="rect">
            <a:avLst/>
          </a:prstGeom>
        </p:spPr>
      </p:pic>
      <p:pic>
        <p:nvPicPr>
          <p:cNvPr id="4" name="Step 2" descr="l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600" y="3822700"/>
            <a:ext cx="10718800" cy="933450"/>
          </a:xfrm>
          <a:prstGeom prst="rect">
            <a:avLst/>
          </a:prstGeom>
        </p:spPr>
      </p:pic>
      <p:pic>
        <p:nvPicPr>
          <p:cNvPr id="5" name="Step 2" descr="l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3450" y="3994150"/>
            <a:ext cx="1701800" cy="501650"/>
          </a:xfrm>
          <a:prstGeom prst="rect">
            <a:avLst/>
          </a:prstGeom>
        </p:spPr>
      </p:pic>
      <p:pic>
        <p:nvPicPr>
          <p:cNvPr id="6" name="Step 2" descr="l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51750" y="3994150"/>
            <a:ext cx="2432050" cy="501650"/>
          </a:xfrm>
          <a:prstGeom prst="rect">
            <a:avLst/>
          </a:prstGeom>
        </p:spPr>
      </p:pic>
      <p:pic>
        <p:nvPicPr>
          <p:cNvPr id="7" name="Step 2" descr="l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24550" y="3994150"/>
            <a:ext cx="1987550" cy="50165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75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75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2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2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" descr="الاستدامة والأثر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tep 1" descr="l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7600" y="1892300"/>
            <a:ext cx="2717800" cy="2667000"/>
          </a:xfrm>
          <a:prstGeom prst="rect">
            <a:avLst/>
          </a:prstGeom>
        </p:spPr>
      </p:pic>
      <p:pic>
        <p:nvPicPr>
          <p:cNvPr id="4" name="Step 2" descr="l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0600" y="1892300"/>
            <a:ext cx="2717800" cy="2667000"/>
          </a:xfrm>
          <a:prstGeom prst="rect">
            <a:avLst/>
          </a:prstGeom>
        </p:spPr>
      </p:pic>
      <p:pic>
        <p:nvPicPr>
          <p:cNvPr id="5" name="Step 2" descr="l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3600" y="1892300"/>
            <a:ext cx="2717800" cy="2667000"/>
          </a:xfrm>
          <a:prstGeom prst="rect">
            <a:avLst/>
          </a:prstGeom>
        </p:spPr>
      </p:pic>
      <p:pic>
        <p:nvPicPr>
          <p:cNvPr id="6" name="Step 3" descr="l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6600" y="1892300"/>
            <a:ext cx="2717800" cy="2667000"/>
          </a:xfrm>
          <a:prstGeom prst="rect">
            <a:avLst/>
          </a:prstGeom>
        </p:spPr>
      </p:pic>
      <p:pic>
        <p:nvPicPr>
          <p:cNvPr id="7" name="Step 4" descr="l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6600" y="4476750"/>
            <a:ext cx="10718800" cy="149225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75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75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7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7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7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" descr="الخطوة التالية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tep 1" descr="l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8600" y="2019300"/>
            <a:ext cx="3606800" cy="1968500"/>
          </a:xfrm>
          <a:prstGeom prst="rect">
            <a:avLst/>
          </a:prstGeom>
        </p:spPr>
      </p:pic>
      <p:pic>
        <p:nvPicPr>
          <p:cNvPr id="4" name="Step 2" descr="l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2600" y="2019300"/>
            <a:ext cx="3606800" cy="1968500"/>
          </a:xfrm>
          <a:prstGeom prst="rect">
            <a:avLst/>
          </a:prstGeom>
        </p:spPr>
      </p:pic>
      <p:pic>
        <p:nvPicPr>
          <p:cNvPr id="5" name="Step 3" descr="l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600" y="2019300"/>
            <a:ext cx="3606800" cy="19685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75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75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7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" descr="الختام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tep 1" descr="l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1100" y="1663700"/>
            <a:ext cx="9829800" cy="2393950"/>
          </a:xfrm>
          <a:prstGeom prst="rect">
            <a:avLst/>
          </a:prstGeom>
        </p:spPr>
      </p:pic>
      <p:pic>
        <p:nvPicPr>
          <p:cNvPr id="4" name="Step 1" descr="l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6250" y="2876550"/>
            <a:ext cx="6159500" cy="628650"/>
          </a:xfrm>
          <a:prstGeom prst="rect">
            <a:avLst/>
          </a:prstGeom>
        </p:spPr>
      </p:pic>
      <p:pic>
        <p:nvPicPr>
          <p:cNvPr id="5" name="Step 2" descr="l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84650" y="4000500"/>
            <a:ext cx="3822700" cy="1346200"/>
          </a:xfrm>
          <a:prstGeom prst="rect">
            <a:avLst/>
          </a:prstGeom>
        </p:spPr>
      </p:pic>
      <p:pic>
        <p:nvPicPr>
          <p:cNvPr id="6" name="Step 3" descr="l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1950" y="5327650"/>
            <a:ext cx="1308100" cy="75565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75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2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7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" descr="ملحق · العرض كاملًا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emo, uncut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14400" y="850900"/>
            <a:ext cx="2589312" cy="5156200"/>
          </a:xfrm>
          <a:prstGeom prst="roundRect">
            <a:avLst>
              <a:gd name="adj" fmla="val 14714"/>
            </a:avLst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3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" descr="ملحق · عرض مباشر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ep 1 (script only)"/>
          <p:cNvSpPr/>
          <p:nvPr/>
        </p:nvSpPr>
        <p:spPr>
          <a:xfrm>
            <a:off x="0" y="0"/>
            <a:ext cx="6350" cy="63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ep 2 (script only)"/>
          <p:cNvSpPr/>
          <p:nvPr/>
        </p:nvSpPr>
        <p:spPr>
          <a:xfrm>
            <a:off x="0" y="0"/>
            <a:ext cx="6350" cy="63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tep 3 (script only)"/>
          <p:cNvSpPr/>
          <p:nvPr/>
        </p:nvSpPr>
        <p:spPr>
          <a:xfrm>
            <a:off x="0" y="0"/>
            <a:ext cx="6350" cy="63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" descr="ملحق · الفرق عن ChatGP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/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" descr="ملحق · عند الخطر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/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" descr="ملحق · البيانات والسيادة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/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" descr="ملحق · الميثاق الوطني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/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" descr="ملحق · الأدلة وحدودها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/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" descr="ملحق · الفري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/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خطوة · Khutwa</dc:title>
  <dc:subject/>
  <dc:creator>Khutwa team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